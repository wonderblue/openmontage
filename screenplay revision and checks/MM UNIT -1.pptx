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9" r:id="rId4"/>
    <p:sldId id="258" r:id="rId5"/>
    <p:sldId id="259" r:id="rId6"/>
    <p:sldId id="260" r:id="rId7"/>
    <p:sldId id="261" r:id="rId8"/>
    <p:sldId id="264" r:id="rId9"/>
    <p:sldId id="262" r:id="rId10"/>
    <p:sldId id="267" r:id="rId11"/>
    <p:sldId id="268" r:id="rId12"/>
    <p:sldId id="265" r:id="rId13"/>
    <p:sldId id="271" r:id="rId14"/>
    <p:sldId id="263" r:id="rId15"/>
    <p:sldId id="270" r:id="rId16"/>
    <p:sldId id="274" r:id="rId17"/>
    <p:sldId id="272" r:id="rId18"/>
    <p:sldId id="273" r:id="rId19"/>
    <p:sldId id="275" r:id="rId20"/>
    <p:sldId id="276"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462" autoAdjust="0"/>
  </p:normalViewPr>
  <p:slideViewPr>
    <p:cSldViewPr>
      <p:cViewPr varScale="1">
        <p:scale>
          <a:sx n="80" d="100"/>
          <a:sy n="80" d="100"/>
        </p:scale>
        <p:origin x="-159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E7C403-F491-4A86-9FED-1206CC61B79F}" type="datetimeFigureOut">
              <a:rPr lang="en-US" smtClean="0"/>
              <a:pPr/>
              <a:t>4/20/2026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4C8A8F-E711-4645-8131-BAF9CB9E9CE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24C8A8F-E711-4645-8131-BAF9CB9E9CE0}"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E4AD19-7D66-4966-AF3C-59630E690D0A}"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4AD19-7D66-4966-AF3C-59630E690D0A}"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E4AD19-7D66-4966-AF3C-59630E690D0A}"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E4AD19-7D66-4966-AF3C-59630E690D0A}"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E4AD19-7D66-4966-AF3C-59630E690D0A}"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6E4AD19-7D66-4966-AF3C-59630E690D0A}"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4AD19-7D66-4966-AF3C-59630E690D0A}"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4AD19-7D66-4966-AF3C-59630E690D0A}"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4AD19-7D66-4966-AF3C-59630E690D0A}"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4AD19-7D66-4966-AF3C-59630E690D0A}"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4AD19-7D66-4966-AF3C-59630E690D0A}"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11043-FF53-49AE-9E4C-A60AC09F0A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4AD19-7D66-4966-AF3C-59630E690D0A}"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11043-FF53-49AE-9E4C-A60AC09F0AA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0"/>
            <a:ext cx="7772400" cy="1470025"/>
          </a:xfrm>
        </p:spPr>
        <p:txBody>
          <a:bodyPr>
            <a:normAutofit fontScale="90000"/>
          </a:bodyPr>
          <a:lstStyle/>
          <a:p>
            <a:r>
              <a:rPr lang="en-US" sz="3600" dirty="0" smtClean="0">
                <a:latin typeface="Times New Roman" pitchFamily="18" charset="0"/>
                <a:cs typeface="Times New Roman" pitchFamily="18" charset="0"/>
              </a:rPr>
              <a:t>    </a:t>
            </a:r>
            <a:br>
              <a:rPr lang="en-US" sz="3600" dirty="0" smtClean="0">
                <a:latin typeface="Times New Roman" pitchFamily="18" charset="0"/>
                <a:cs typeface="Times New Roman" pitchFamily="18" charset="0"/>
              </a:rPr>
            </a:br>
            <a:r>
              <a:rPr lang="en-US" sz="3100" b="1" dirty="0" smtClean="0">
                <a:latin typeface="Times New Roman" pitchFamily="18" charset="0"/>
                <a:cs typeface="Times New Roman" pitchFamily="18" charset="0"/>
              </a:rPr>
              <a:t>UNIT -1</a:t>
            </a:r>
            <a:br>
              <a:rPr lang="en-US" sz="3100" b="1" dirty="0" smtClean="0">
                <a:latin typeface="Times New Roman" pitchFamily="18" charset="0"/>
                <a:cs typeface="Times New Roman" pitchFamily="18" charset="0"/>
              </a:rPr>
            </a:br>
            <a:r>
              <a:rPr lang="en-US" sz="3100" b="1" dirty="0" smtClean="0">
                <a:latin typeface="Times New Roman" pitchFamily="18" charset="0"/>
                <a:cs typeface="Times New Roman" pitchFamily="18" charset="0"/>
              </a:rPr>
              <a:t>IMPORTANCE AND SCOPE OF MARKETING </a:t>
            </a: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pic>
        <p:nvPicPr>
          <p:cNvPr id="14338" name="Picture 2" descr="What is Event Marketing: Types, Benefit, and Examples"/>
          <p:cNvPicPr>
            <a:picLocks noChangeAspect="1" noChangeArrowheads="1"/>
          </p:cNvPicPr>
          <p:nvPr/>
        </p:nvPicPr>
        <p:blipFill>
          <a:blip r:embed="rId2"/>
          <a:srcRect/>
          <a:stretch>
            <a:fillRect/>
          </a:stretch>
        </p:blipFill>
        <p:spPr bwMode="auto">
          <a:xfrm>
            <a:off x="0" y="1142984"/>
            <a:ext cx="9121570" cy="5715016"/>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CONCEPTS OF MARKETING</a:t>
            </a:r>
            <a:endParaRPr lang="en-US" sz="3200" b="1" dirty="0">
              <a:latin typeface="Times New Roman" pitchFamily="18" charset="0"/>
              <a:cs typeface="Times New Roman" pitchFamily="18" charset="0"/>
            </a:endParaRPr>
          </a:p>
        </p:txBody>
      </p:sp>
      <p:pic>
        <p:nvPicPr>
          <p:cNvPr id="1026" name="Picture 2" descr="5 Basic Marketing Concepts Explained with Examples [2024]"/>
          <p:cNvPicPr>
            <a:picLocks noChangeAspect="1" noChangeArrowheads="1"/>
          </p:cNvPicPr>
          <p:nvPr/>
        </p:nvPicPr>
        <p:blipFill>
          <a:blip r:embed="rId3"/>
          <a:srcRect b="1471"/>
          <a:stretch>
            <a:fillRect/>
          </a:stretch>
        </p:blipFill>
        <p:spPr bwMode="auto">
          <a:xfrm>
            <a:off x="785786" y="1500174"/>
            <a:ext cx="7286676" cy="4786346"/>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857916"/>
          </a:xfrm>
        </p:spPr>
        <p:txBody>
          <a:bodyPr>
            <a:normAutofit fontScale="92500" lnSpcReduction="10000"/>
          </a:bodyPr>
          <a:lstStyle/>
          <a:p>
            <a:pPr algn="just"/>
            <a:r>
              <a:rPr lang="en-US" sz="2400" b="1" dirty="0" smtClean="0">
                <a:latin typeface="Times New Roman" pitchFamily="18" charset="0"/>
                <a:cs typeface="Times New Roman" pitchFamily="18" charset="0"/>
              </a:rPr>
              <a:t>Production Concept-</a:t>
            </a:r>
            <a:r>
              <a:rPr lang="en-US" sz="2400" dirty="0" smtClean="0">
                <a:latin typeface="Times New Roman" pitchFamily="18" charset="0"/>
                <a:cs typeface="Times New Roman" pitchFamily="18" charset="0"/>
              </a:rPr>
              <a:t>This concept was based on the assumption that customers are primarily interested in products which are accessible and affordable.</a:t>
            </a:r>
          </a:p>
          <a:p>
            <a:pPr algn="just"/>
            <a:r>
              <a:rPr lang="en-US" sz="2400" b="1" dirty="0" smtClean="0">
                <a:latin typeface="Times New Roman" pitchFamily="18" charset="0"/>
                <a:cs typeface="Times New Roman" pitchFamily="18" charset="0"/>
              </a:rPr>
              <a:t>Product Concept-</a:t>
            </a:r>
            <a:r>
              <a:rPr lang="en-US" sz="2400" dirty="0" smtClean="0">
                <a:latin typeface="Times New Roman" pitchFamily="18" charset="0"/>
                <a:cs typeface="Times New Roman" pitchFamily="18" charset="0"/>
              </a:rPr>
              <a:t>The product concept is based on the assumption that customers will be more inclined towards products that are offering more quality, innovative features and top-level performance.</a:t>
            </a:r>
          </a:p>
          <a:p>
            <a:pPr algn="just"/>
            <a:r>
              <a:rPr lang="en-US" sz="2400" b="1" dirty="0" smtClean="0">
                <a:latin typeface="Times New Roman" pitchFamily="18" charset="0"/>
                <a:cs typeface="Times New Roman" pitchFamily="18" charset="0"/>
              </a:rPr>
              <a:t>Selling Concept- </a:t>
            </a:r>
            <a:r>
              <a:rPr lang="en-US" sz="2400" dirty="0" smtClean="0">
                <a:latin typeface="Times New Roman" pitchFamily="18" charset="0"/>
                <a:cs typeface="Times New Roman" pitchFamily="18" charset="0"/>
              </a:rPr>
              <a:t>It believes that customers will be buying products only when the product is aggressively marketed by the company. It does not focus on building relationships with customers, and ensuring customer satisfaction is also not deemed necessary.</a:t>
            </a:r>
          </a:p>
          <a:p>
            <a:pPr algn="just"/>
            <a:r>
              <a:rPr lang="en-US" sz="2400" b="1" dirty="0" smtClean="0">
                <a:latin typeface="Times New Roman" pitchFamily="18" charset="0"/>
                <a:cs typeface="Times New Roman" pitchFamily="18" charset="0"/>
              </a:rPr>
              <a:t>Marketing Concept-</a:t>
            </a:r>
            <a:r>
              <a:rPr lang="en-US" sz="2400" dirty="0" smtClean="0">
                <a:latin typeface="Times New Roman" pitchFamily="18" charset="0"/>
                <a:cs typeface="Times New Roman" pitchFamily="18" charset="0"/>
              </a:rPr>
              <a:t>A marketing concept places the centre of focus on the customer. All the activities that are undertaken by an organization are done keeping the customer in mind. </a:t>
            </a:r>
          </a:p>
          <a:p>
            <a:pPr algn="just"/>
            <a:r>
              <a:rPr lang="en-US" sz="2400" b="1" dirty="0" smtClean="0">
                <a:latin typeface="Times New Roman" pitchFamily="18" charset="0"/>
                <a:cs typeface="Times New Roman" pitchFamily="18" charset="0"/>
              </a:rPr>
              <a:t>Societal Marketing Concept-</a:t>
            </a:r>
            <a:r>
              <a:rPr lang="en-US" sz="2400" dirty="0" smtClean="0">
                <a:latin typeface="Times New Roman" pitchFamily="18" charset="0"/>
                <a:cs typeface="Times New Roman" pitchFamily="18" charset="0"/>
              </a:rPr>
              <a:t>This is the most advanced form of the marketing concept. Here the focus is on needs and wants of the customer as well as ensuring the safety of the customer and society first. </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45719" cy="114288"/>
          </a:xfrm>
        </p:spPr>
        <p:txBody>
          <a:bodyPr>
            <a:normAutofit fontScale="25000" lnSpcReduction="20000"/>
          </a:bodyPr>
          <a:lstStyle/>
          <a:p>
            <a:endParaRPr lang="en-US" dirty="0"/>
          </a:p>
        </p:txBody>
      </p:sp>
      <p:pic>
        <p:nvPicPr>
          <p:cNvPr id="15362" name="Picture 2" descr="Marketing Management Lecture 1 Introduction to Marketing Management - ppt  download"/>
          <p:cNvPicPr>
            <a:picLocks noChangeAspect="1" noChangeArrowheads="1"/>
          </p:cNvPicPr>
          <p:nvPr/>
        </p:nvPicPr>
        <p:blipFill>
          <a:blip r:embed="rId2"/>
          <a:srcRect b="9468"/>
          <a:stretch>
            <a:fillRect/>
          </a:stretch>
        </p:blipFill>
        <p:spPr bwMode="auto">
          <a:xfrm>
            <a:off x="0" y="0"/>
            <a:ext cx="9144000" cy="6858000"/>
          </a:xfrm>
          <a:prstGeom prst="rect">
            <a:avLst/>
          </a:prstGeom>
          <a:noFill/>
        </p:spPr>
      </p:pic>
      <p:pic>
        <p:nvPicPr>
          <p:cNvPr id="15364" name="Picture 4" descr="Successful marketing management tasks. | PPT"/>
          <p:cNvPicPr>
            <a:picLocks noChangeAspect="1" noChangeArrowheads="1"/>
          </p:cNvPicPr>
          <p:nvPr/>
        </p:nvPicPr>
        <p:blipFill>
          <a:blip r:embed="rId3"/>
          <a:srcRect t="6250" b="18749"/>
          <a:stretch>
            <a:fillRect/>
          </a:stretch>
        </p:blipFill>
        <p:spPr bwMode="auto">
          <a:xfrm>
            <a:off x="5715008" y="4214818"/>
            <a:ext cx="3048000" cy="1714512"/>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45719" cy="45719"/>
          </a:xfrm>
        </p:spPr>
        <p:txBody>
          <a:bodyPr>
            <a:normAutofit fontScale="25000" lnSpcReduction="20000"/>
          </a:bodyPr>
          <a:lstStyle/>
          <a:p>
            <a:endParaRPr lang="en-US" dirty="0"/>
          </a:p>
        </p:txBody>
      </p:sp>
      <p:sp>
        <p:nvSpPr>
          <p:cNvPr id="18434" name="AutoShape 2" descr="Marketing Environment : Features and Types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36" name="AutoShape 4" descr="Marketing Environment : Features and Types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38" name="AutoShape 6" descr="Marketing Environment : Features and Types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40" name="AutoShape 8" descr="Marketing Environment : Features and Types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42" name="AutoShape 10" descr="Marketing-Environment-cop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44" name="AutoShape 12" descr="https://media.geeksforgeeks.org/wp-content/uploads/20240118131435/Marketing-Environment-copy.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46" name="AutoShape 14" descr="https://media.geeksforgeeks.org/wp-content/uploads/20240118131435/Marketing-Environment-copy.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48" name="Picture 16" descr="Marketing Theories – The Marketing Environment"/>
          <p:cNvPicPr>
            <a:picLocks noChangeAspect="1" noChangeArrowheads="1"/>
          </p:cNvPicPr>
          <p:nvPr/>
        </p:nvPicPr>
        <p:blipFill>
          <a:blip r:embed="rId2"/>
          <a:srcRect b="6873"/>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M</a:t>
            </a:r>
            <a:r>
              <a:rPr lang="en-US" sz="3200" dirty="0" smtClean="0">
                <a:latin typeface="Times New Roman" pitchFamily="18" charset="0"/>
                <a:cs typeface="Times New Roman" pitchFamily="18" charset="0"/>
              </a:rPr>
              <a:t>arketing &amp; Customer </a:t>
            </a:r>
            <a:r>
              <a:rPr lang="en-US" sz="3200" dirty="0">
                <a:latin typeface="Times New Roman" pitchFamily="18" charset="0"/>
                <a:cs typeface="Times New Roman" pitchFamily="18" charset="0"/>
              </a:rPr>
              <a:t>V</a:t>
            </a:r>
            <a:r>
              <a:rPr lang="en-US" sz="3200" dirty="0" smtClean="0">
                <a:latin typeface="Times New Roman" pitchFamily="18" charset="0"/>
                <a:cs typeface="Times New Roman" pitchFamily="18" charset="0"/>
              </a:rPr>
              <a:t>alue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8229600" cy="1685924"/>
          </a:xfrm>
        </p:spPr>
        <p:txBody>
          <a:bodyPr>
            <a:normAutofit/>
          </a:bodyPr>
          <a:lstStyle/>
          <a:p>
            <a:pPr algn="just">
              <a:buNone/>
            </a:pPr>
            <a:r>
              <a:rPr lang="en-US" sz="2400" dirty="0" smtClean="0">
                <a:latin typeface="Times New Roman" pitchFamily="18" charset="0"/>
                <a:cs typeface="Times New Roman" pitchFamily="18" charset="0"/>
              </a:rPr>
              <a:t>    Customer Value Marketing is a customer's perception of the value of your product or service. The benefits the products and services provide to the target market, or the value of the money they provide. </a:t>
            </a:r>
          </a:p>
          <a:p>
            <a:pPr algn="just">
              <a:buNone/>
            </a:pPr>
            <a:endParaRPr lang="en-US" sz="2400" dirty="0">
              <a:latin typeface="Times New Roman" pitchFamily="18" charset="0"/>
              <a:cs typeface="Times New Roman" pitchFamily="18" charset="0"/>
            </a:endParaRPr>
          </a:p>
        </p:txBody>
      </p:sp>
      <p:pic>
        <p:nvPicPr>
          <p:cNvPr id="16386" name="Picture 2" descr="Customer Value - Meaning, Importance, Types, Parameters &amp; Example |  Marketing Overview | MBA Skool"/>
          <p:cNvPicPr>
            <a:picLocks noChangeAspect="1" noChangeArrowheads="1"/>
          </p:cNvPicPr>
          <p:nvPr/>
        </p:nvPicPr>
        <p:blipFill>
          <a:blip r:embed="rId2"/>
          <a:srcRect/>
          <a:stretch>
            <a:fillRect/>
          </a:stretch>
        </p:blipFill>
        <p:spPr bwMode="auto">
          <a:xfrm>
            <a:off x="1428728" y="3267074"/>
            <a:ext cx="6057900" cy="359092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Marketing</a:t>
            </a:r>
            <a:endParaRPr lang="en-US" dirty="0"/>
          </a:p>
        </p:txBody>
      </p:sp>
      <p:pic>
        <p:nvPicPr>
          <p:cNvPr id="21510" name="Picture 6" descr="Chapter 1 The Unique Nature of Industrial Marketing. - ppt download"/>
          <p:cNvPicPr>
            <a:picLocks noChangeAspect="1" noChangeArrowheads="1"/>
          </p:cNvPicPr>
          <p:nvPr/>
        </p:nvPicPr>
        <p:blipFill>
          <a:blip r:embed="rId2"/>
          <a:srcRect/>
          <a:stretch>
            <a:fillRect/>
          </a:stretch>
        </p:blipFill>
        <p:spPr bwMode="auto">
          <a:xfrm>
            <a:off x="0" y="1"/>
            <a:ext cx="9144000" cy="68580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4338" name="Picture 2" descr="What is Industrial Marketing: Strategy &amp; Ideas to Boost!"/>
          <p:cNvPicPr>
            <a:picLocks noChangeAspect="1" noChangeArrowheads="1"/>
          </p:cNvPicPr>
          <p:nvPr/>
        </p:nvPicPr>
        <p:blipFill>
          <a:blip r:embed="rId2"/>
          <a:srcRect b="7291"/>
          <a:stretch>
            <a:fillRect/>
          </a:stretch>
        </p:blipFill>
        <p:spPr bwMode="auto">
          <a:xfrm>
            <a:off x="0" y="214290"/>
            <a:ext cx="9144000" cy="664371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normAutofit/>
          </a:bodyPr>
          <a:lstStyle/>
          <a:p>
            <a:r>
              <a:rPr lang="en-US" sz="3200" b="1" dirty="0" smtClean="0">
                <a:latin typeface="Times New Roman" pitchFamily="18" charset="0"/>
                <a:cs typeface="Times New Roman" pitchFamily="18" charset="0"/>
              </a:rPr>
              <a:t>Services Marketing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00175"/>
            <a:ext cx="8229600" cy="5072098"/>
          </a:xfrm>
        </p:spPr>
        <p:txBody>
          <a:bodyPr>
            <a:normAutofit fontScale="85000" lnSpcReduction="20000"/>
          </a:bodyPr>
          <a:lstStyle/>
          <a:p>
            <a:pPr algn="just">
              <a:buNone/>
            </a:pPr>
            <a:r>
              <a:rPr lang="en-US" sz="24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Service </a:t>
            </a:r>
            <a:r>
              <a:rPr lang="en-US" sz="2600" dirty="0">
                <a:latin typeface="Times New Roman" pitchFamily="18" charset="0"/>
                <a:cs typeface="Times New Roman" pitchFamily="18" charset="0"/>
              </a:rPr>
              <a:t>marketing is simply the process of promoting and selling a service or an intangible good to a specific group of people. It is a new way of marketing that has become very popular and helps companies all over the world promote their services. </a:t>
            </a:r>
            <a:endParaRPr lang="en-US" sz="2600" dirty="0" smtClean="0">
              <a:latin typeface="Times New Roman" pitchFamily="18" charset="0"/>
              <a:cs typeface="Times New Roman" pitchFamily="18" charset="0"/>
            </a:endParaRPr>
          </a:p>
          <a:p>
            <a:pPr algn="just">
              <a:buNone/>
            </a:pPr>
            <a:r>
              <a:rPr lang="en-US" sz="2600" dirty="0" smtClean="0">
                <a:latin typeface="Times New Roman" pitchFamily="18" charset="0"/>
                <a:cs typeface="Times New Roman" pitchFamily="18" charset="0"/>
              </a:rPr>
              <a:t>     Example-</a:t>
            </a:r>
            <a:r>
              <a:rPr lang="en-US" sz="2600" b="1" dirty="0" smtClean="0">
                <a:latin typeface="Times New Roman" pitchFamily="18" charset="0"/>
                <a:cs typeface="Times New Roman" pitchFamily="18" charset="0"/>
              </a:rPr>
              <a:t> </a:t>
            </a:r>
            <a:r>
              <a:rPr lang="en-US" sz="2800" b="1" dirty="0" err="1" smtClean="0">
                <a:solidFill>
                  <a:srgbClr val="FF0000"/>
                </a:solidFill>
                <a:latin typeface="Times New Roman" pitchFamily="18" charset="0"/>
                <a:cs typeface="Times New Roman" pitchFamily="18" charset="0"/>
              </a:rPr>
              <a:t>Uber</a:t>
            </a:r>
            <a:endParaRPr lang="en-US" sz="2600" b="1" dirty="0" smtClean="0">
              <a:solidFill>
                <a:srgbClr val="FF0000"/>
              </a:solidFill>
              <a:latin typeface="Times New Roman" pitchFamily="18" charset="0"/>
              <a:cs typeface="Times New Roman" pitchFamily="18" charset="0"/>
            </a:endParaRPr>
          </a:p>
          <a:p>
            <a:pPr algn="just">
              <a:buNone/>
            </a:pP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Uber</a:t>
            </a:r>
            <a:r>
              <a:rPr lang="en-US" sz="2600" dirty="0" smtClean="0">
                <a:latin typeface="Times New Roman" pitchFamily="18" charset="0"/>
                <a:cs typeface="Times New Roman" pitchFamily="18" charset="0"/>
              </a:rPr>
              <a:t> is an on-demand transportation technology that connects driver-partners with riders. For riders, </a:t>
            </a:r>
            <a:r>
              <a:rPr lang="en-US" sz="2600" dirty="0" err="1" smtClean="0">
                <a:latin typeface="Times New Roman" pitchFamily="18" charset="0"/>
                <a:cs typeface="Times New Roman" pitchFamily="18" charset="0"/>
              </a:rPr>
              <a:t>Uber</a:t>
            </a:r>
            <a:r>
              <a:rPr lang="en-US" sz="2600" dirty="0" smtClean="0">
                <a:latin typeface="Times New Roman" pitchFamily="18" charset="0"/>
                <a:cs typeface="Times New Roman" pitchFamily="18" charset="0"/>
              </a:rPr>
              <a:t> is a great service that helps them get exactly where they need to go faster while drivers benefit from their time behind the wheel and earn some income. The core value here is flexibility for everyone involved (rider and driver).</a:t>
            </a:r>
          </a:p>
          <a:p>
            <a:pPr algn="just">
              <a:buNone/>
            </a:pP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However,Uber</a:t>
            </a:r>
            <a:r>
              <a:rPr lang="en-US" sz="2600" dirty="0" smtClean="0">
                <a:latin typeface="Times New Roman" pitchFamily="18" charset="0"/>
                <a:cs typeface="Times New Roman" pitchFamily="18" charset="0"/>
              </a:rPr>
              <a:t> also works on building credibility and trust. It builds credibility with rider built-in reviews, and trust with safety guarantees for both riders (driver screenings and safety tools) and drivers (incident response teams, insurance, and other safety tools and services).</a:t>
            </a:r>
          </a:p>
          <a:p>
            <a:pPr algn="just">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ervice Marketing Meaning Importance Types And Examples 2022 - LendingM"/>
          <p:cNvPicPr>
            <a:picLocks noGrp="1" noChangeAspect="1" noChangeArrowheads="1"/>
          </p:cNvPicPr>
          <p:nvPr>
            <p:ph idx="1"/>
          </p:nvPr>
        </p:nvPicPr>
        <p:blipFill>
          <a:blip r:embed="rId2"/>
          <a:srcRect/>
          <a:stretch>
            <a:fillRect/>
          </a:stretch>
        </p:blipFill>
        <p:spPr bwMode="auto">
          <a:xfrm>
            <a:off x="142844" y="642918"/>
            <a:ext cx="8429684" cy="5786478"/>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857916"/>
          </a:xfrm>
        </p:spPr>
        <p:txBody>
          <a:bodyPr>
            <a:normAutofit lnSpcReduction="10000"/>
          </a:bodyPr>
          <a:lstStyle/>
          <a:p>
            <a:pPr algn="just"/>
            <a:r>
              <a:rPr lang="en-US" sz="2000" b="1" dirty="0" smtClean="0">
                <a:latin typeface="Times New Roman" pitchFamily="18" charset="0"/>
                <a:cs typeface="Times New Roman" pitchFamily="18" charset="0"/>
              </a:rPr>
              <a:t>Intangible </a:t>
            </a:r>
            <a:r>
              <a:rPr lang="en-US" sz="2000" dirty="0" smtClean="0">
                <a:latin typeface="Times New Roman" pitchFamily="18" charset="0"/>
                <a:cs typeface="Times New Roman" pitchFamily="18" charset="0"/>
              </a:rPr>
              <a:t>- the nature of services is that you can not see, smell, or touch them. So brands have to build a lot of trust before the sale ever happens because it’s hard for a customer to sample it.</a:t>
            </a:r>
          </a:p>
          <a:p>
            <a:pPr algn="just"/>
            <a:r>
              <a:rPr lang="en-US" sz="2000" b="1" dirty="0" smtClean="0">
                <a:latin typeface="Times New Roman" pitchFamily="18" charset="0"/>
                <a:cs typeface="Times New Roman" pitchFamily="18" charset="0"/>
              </a:rPr>
              <a:t>Perishable </a:t>
            </a:r>
            <a:r>
              <a:rPr lang="en-US" sz="2000" dirty="0" smtClean="0">
                <a:latin typeface="Times New Roman" pitchFamily="18" charset="0"/>
                <a:cs typeface="Times New Roman" pitchFamily="18" charset="0"/>
              </a:rPr>
              <a:t>- once the customer receives the service, it’s gone. That’s why brands need to come up with effective marketing strategies to stay top of mind and remind their customer base of the experience.</a:t>
            </a:r>
          </a:p>
          <a:p>
            <a:pPr algn="just"/>
            <a:r>
              <a:rPr lang="en-US" sz="2000" b="1" dirty="0" smtClean="0">
                <a:latin typeface="Times New Roman" pitchFamily="18" charset="0"/>
                <a:cs typeface="Times New Roman" pitchFamily="18" charset="0"/>
              </a:rPr>
              <a:t>Inseparability-</a:t>
            </a:r>
            <a:r>
              <a:rPr lang="en-US" sz="2000" dirty="0" smtClean="0">
                <a:latin typeface="Times New Roman" pitchFamily="18" charset="0"/>
                <a:cs typeface="Times New Roman" pitchFamily="18" charset="0"/>
              </a:rPr>
              <a:t>When </a:t>
            </a:r>
            <a:r>
              <a:rPr lang="en-US" sz="2000" dirty="0">
                <a:latin typeface="Times New Roman" pitchFamily="18" charset="0"/>
                <a:cs typeface="Times New Roman" pitchFamily="18" charset="0"/>
              </a:rPr>
              <a:t>purchasing a product, most customers can separate the product from the staff member who provides it. However, when purchasing a service, customers commonly purchase a service at the time they want to consume them</a:t>
            </a:r>
            <a:r>
              <a:rPr lang="en-US" sz="2000" dirty="0" smtClean="0">
                <a:latin typeface="Times New Roman" pitchFamily="18" charset="0"/>
                <a:cs typeface="Times New Roman" pitchFamily="18" charset="0"/>
              </a:rPr>
              <a:t>.</a:t>
            </a:r>
          </a:p>
          <a:p>
            <a:pPr algn="just"/>
            <a:r>
              <a:rPr lang="en-US" sz="2000" b="1" dirty="0" smtClean="0">
                <a:latin typeface="Times New Roman" pitchFamily="18" charset="0"/>
                <a:cs typeface="Times New Roman" pitchFamily="18" charset="0"/>
              </a:rPr>
              <a:t>Variability-</a:t>
            </a:r>
            <a:r>
              <a:rPr lang="en-US" sz="2000" dirty="0" smtClean="0">
                <a:latin typeface="Times New Roman" pitchFamily="18" charset="0"/>
                <a:cs typeface="Times New Roman" pitchFamily="18" charset="0"/>
              </a:rPr>
              <a:t>It means </a:t>
            </a:r>
            <a:r>
              <a:rPr lang="en-US" sz="2000" dirty="0">
                <a:latin typeface="Times New Roman" pitchFamily="18" charset="0"/>
                <a:cs typeface="Times New Roman" pitchFamily="18" charset="0"/>
              </a:rPr>
              <a:t>a lack of consistency and measures how much data or experiences vary. </a:t>
            </a:r>
            <a:r>
              <a:rPr lang="en-US" sz="2000" dirty="0"/>
              <a:t> </a:t>
            </a:r>
            <a:r>
              <a:rPr lang="en-US" sz="2000" dirty="0">
                <a:latin typeface="Times New Roman" pitchFamily="18" charset="0"/>
                <a:cs typeface="Times New Roman" pitchFamily="18" charset="0"/>
              </a:rPr>
              <a:t>When purchasing services, there is greater </a:t>
            </a:r>
            <a:r>
              <a:rPr lang="en-US" sz="2000" dirty="0" smtClean="0">
                <a:latin typeface="Times New Roman" pitchFamily="18" charset="0"/>
                <a:cs typeface="Times New Roman" pitchFamily="18" charset="0"/>
              </a:rPr>
              <a:t>variability there </a:t>
            </a:r>
            <a:r>
              <a:rPr lang="en-US" sz="2000" dirty="0">
                <a:latin typeface="Times New Roman" pitchFamily="18" charset="0"/>
                <a:cs typeface="Times New Roman" pitchFamily="18" charset="0"/>
              </a:rPr>
              <a:t>will always be changes in the experience of the same service provided by different vendors. </a:t>
            </a:r>
          </a:p>
          <a:p>
            <a:pPr algn="just" fontAlgn="base"/>
            <a:r>
              <a:rPr lang="en-US" sz="2000" b="1" dirty="0" smtClean="0">
                <a:latin typeface="Times New Roman" pitchFamily="18" charset="0"/>
                <a:cs typeface="Times New Roman" pitchFamily="18" charset="0"/>
              </a:rPr>
              <a:t>Changing demand-</a:t>
            </a: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demand for services has wide fluctuations and may be seasonal</a:t>
            </a:r>
            <a:r>
              <a:rPr lang="en-US" sz="2000" dirty="0" smtClean="0">
                <a:latin typeface="Times New Roman" pitchFamily="18" charset="0"/>
                <a:cs typeface="Times New Roman" pitchFamily="18" charset="0"/>
              </a:rPr>
              <a:t>.</a:t>
            </a:r>
          </a:p>
          <a:p>
            <a:pPr algn="just" fontAlgn="base"/>
            <a:r>
              <a:rPr lang="en-US" sz="2000" b="1" dirty="0" smtClean="0">
                <a:latin typeface="Times New Roman" pitchFamily="18" charset="0"/>
                <a:cs typeface="Times New Roman" pitchFamily="18" charset="0"/>
              </a:rPr>
              <a:t>Pricing -</a:t>
            </a:r>
            <a:r>
              <a:rPr lang="en-US" sz="2000" dirty="0" smtClean="0">
                <a:latin typeface="Times New Roman" pitchFamily="18" charset="0"/>
                <a:cs typeface="Times New Roman" pitchFamily="18" charset="0"/>
              </a:rPr>
              <a:t>Quality </a:t>
            </a:r>
            <a:r>
              <a:rPr lang="en-US" sz="2000" dirty="0">
                <a:latin typeface="Times New Roman" pitchFamily="18" charset="0"/>
                <a:cs typeface="Times New Roman" pitchFamily="18" charset="0"/>
              </a:rPr>
              <a:t>of services cannot be standardized. The pricing of services are usu­ally determined on the basis of demand and competition.</a:t>
            </a:r>
          </a:p>
          <a:p>
            <a:pPr algn="just" fontAlgn="base"/>
            <a:endParaRPr lang="en-US" sz="2000" dirty="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s://entail.mayple.com/en-assets/mayple/602ea95f1e15afbbe4216130_7_ps_services_marketing_mix_84cd90f97423b510c5d586729ab59bf8_800-1699777105533.png"/>
          <p:cNvPicPr>
            <a:picLocks noChangeAspect="1" noChangeArrowheads="1"/>
          </p:cNvPicPr>
          <p:nvPr/>
        </p:nvPicPr>
        <p:blipFill>
          <a:blip r:embed="rId2"/>
          <a:srcRect/>
          <a:stretch>
            <a:fillRect/>
          </a:stretch>
        </p:blipFill>
        <p:spPr bwMode="auto">
          <a:xfrm>
            <a:off x="0" y="142852"/>
            <a:ext cx="9144000" cy="6572296"/>
          </a:xfrm>
          <a:prstGeom prst="rect">
            <a:avLst/>
          </a:prstGeom>
          <a:noFill/>
        </p:spPr>
      </p:pic>
      <p:sp>
        <p:nvSpPr>
          <p:cNvPr id="3" name="Rounded Rectangle 2"/>
          <p:cNvSpPr/>
          <p:nvPr/>
        </p:nvSpPr>
        <p:spPr>
          <a:xfrm>
            <a:off x="3786182" y="2786058"/>
            <a:ext cx="1857388"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2"/>
          <a:ext cx="9143999" cy="6857999"/>
        </p:xfrm>
        <a:graphic>
          <a:graphicData uri="http://schemas.openxmlformats.org/drawingml/2006/table">
            <a:tbl>
              <a:tblPr>
                <a:tableStyleId>{16D9F66E-5EB9-4882-86FB-DCBF35E3C3E4}</a:tableStyleId>
              </a:tblPr>
              <a:tblGrid>
                <a:gridCol w="1745678"/>
                <a:gridCol w="7398321"/>
              </a:tblGrid>
              <a:tr h="993000">
                <a:tc>
                  <a:txBody>
                    <a:bodyPr/>
                    <a:lstStyle/>
                    <a:p>
                      <a:pPr algn="ctr"/>
                      <a:r>
                        <a:rPr lang="en-US" sz="1800" b="1" dirty="0">
                          <a:latin typeface="Times New Roman" pitchFamily="18" charset="0"/>
                          <a:cs typeface="Times New Roman" pitchFamily="18" charset="0"/>
                        </a:rPr>
                        <a:t>Aspect</a:t>
                      </a:r>
                      <a:endParaRPr lang="en-US" sz="1800" b="1" dirty="0">
                        <a:solidFill>
                          <a:srgbClr val="000000"/>
                        </a:solidFill>
                        <a:latin typeface="Times New Roman" pitchFamily="18" charset="0"/>
                        <a:cs typeface="Times New Roman" pitchFamily="18" charset="0"/>
                      </a:endParaRPr>
                    </a:p>
                  </a:txBody>
                  <a:tcPr marL="14952" marR="14952" marT="3738" marB="11214" anchor="ctr"/>
                </a:tc>
                <a:tc>
                  <a:txBody>
                    <a:bodyPr/>
                    <a:lstStyle/>
                    <a:p>
                      <a:pPr algn="ctr"/>
                      <a:r>
                        <a:rPr lang="en-US" sz="1800" b="1" dirty="0">
                          <a:latin typeface="Times New Roman" pitchFamily="18" charset="0"/>
                          <a:cs typeface="Times New Roman" pitchFamily="18" charset="0"/>
                        </a:rPr>
                        <a:t>Service Marketing</a:t>
                      </a:r>
                      <a:endParaRPr lang="en-US" sz="1800" b="1"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Product</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It focuses on selling intangible services consumed immediately and cannot be owned.</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Price</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Uses subscriptions, hourly rates, or bundled services reflecting immediate consumption.</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Place</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About accessibility and convenience, often digitally or at a comfortable location.</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Promotion</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Emphasizes benefits, experience, and value, using testimonials and case studies.</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People</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People play a crucial role as service providers, impacting customer experience.</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Process</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Vital to ensure efficient and satisfactory service delivery, often in real-time.</a:t>
                      </a:r>
                      <a:endParaRPr lang="en-US" sz="1600" dirty="0">
                        <a:solidFill>
                          <a:srgbClr val="000000"/>
                        </a:solidFill>
                        <a:latin typeface="Times New Roman" pitchFamily="18" charset="0"/>
                        <a:cs typeface="Times New Roman" pitchFamily="18" charset="0"/>
                      </a:endParaRPr>
                    </a:p>
                  </a:txBody>
                  <a:tcPr marL="14952" marR="14952" marT="3738" marB="11214" anchor="ctr"/>
                </a:tc>
              </a:tr>
              <a:tr h="837857">
                <a:tc>
                  <a:txBody>
                    <a:bodyPr/>
                    <a:lstStyle/>
                    <a:p>
                      <a:pPr algn="ctr"/>
                      <a:r>
                        <a:rPr lang="en-US" sz="1600" dirty="0">
                          <a:latin typeface="Times New Roman" pitchFamily="18" charset="0"/>
                          <a:cs typeface="Times New Roman" pitchFamily="18" charset="0"/>
                        </a:rPr>
                        <a:t>Physical Evidence</a:t>
                      </a:r>
                      <a:endParaRPr lang="en-US" sz="1600" dirty="0">
                        <a:solidFill>
                          <a:srgbClr val="000000"/>
                        </a:solidFill>
                        <a:latin typeface="Times New Roman" pitchFamily="18" charset="0"/>
                        <a:cs typeface="Times New Roman" pitchFamily="18" charset="0"/>
                      </a:endParaRPr>
                    </a:p>
                  </a:txBody>
                  <a:tcPr marL="14952" marR="14952" marT="3738" marB="11214" anchor="ctr"/>
                </a:tc>
                <a:tc>
                  <a:txBody>
                    <a:bodyPr/>
                    <a:lstStyle/>
                    <a:p>
                      <a:pPr algn="l"/>
                      <a:r>
                        <a:rPr lang="en-US" sz="1600" dirty="0">
                          <a:latin typeface="Times New Roman" pitchFamily="18" charset="0"/>
                          <a:cs typeface="Times New Roman" pitchFamily="18" charset="0"/>
                        </a:rPr>
                        <a:t>Includes the environment and elements that support and enhance the service experience.</a:t>
                      </a:r>
                      <a:endParaRPr lang="en-US" sz="1600" dirty="0">
                        <a:solidFill>
                          <a:srgbClr val="000000"/>
                        </a:solidFill>
                        <a:latin typeface="Times New Roman" pitchFamily="18" charset="0"/>
                        <a:cs typeface="Times New Roman" pitchFamily="18" charset="0"/>
                      </a:endParaRPr>
                    </a:p>
                  </a:txBody>
                  <a:tcPr marL="14952" marR="14952" marT="3738" marB="11214" anchor="ct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Marketing </a:t>
            </a:r>
            <a:endParaRPr lang="en-US" dirty="0"/>
          </a:p>
        </p:txBody>
      </p:sp>
      <p:sp>
        <p:nvSpPr>
          <p:cNvPr id="3" name="Content Placeholder 2"/>
          <p:cNvSpPr>
            <a:spLocks noGrp="1"/>
          </p:cNvSpPr>
          <p:nvPr>
            <p:ph idx="1"/>
          </p:nvPr>
        </p:nvSpPr>
        <p:spPr>
          <a:xfrm flipH="1">
            <a:off x="411481" y="1600201"/>
            <a:ext cx="45719" cy="328602"/>
          </a:xfrm>
        </p:spPr>
        <p:txBody>
          <a:bodyPr>
            <a:normAutofit fontScale="55000" lnSpcReduction="20000"/>
          </a:bodyPr>
          <a:lstStyle/>
          <a:p>
            <a:endParaRPr lang="en-US" dirty="0"/>
          </a:p>
        </p:txBody>
      </p:sp>
      <p:pic>
        <p:nvPicPr>
          <p:cNvPr id="2050" name="Picture 2" descr="What is global marketing? Definition, meaning and examples"/>
          <p:cNvPicPr>
            <a:picLocks noChangeAspect="1" noChangeArrowheads="1"/>
          </p:cNvPicPr>
          <p:nvPr/>
        </p:nvPicPr>
        <p:blipFill>
          <a:blip r:embed="rId2"/>
          <a:srcRect/>
          <a:stretch>
            <a:fillRect/>
          </a:stretch>
        </p:blipFill>
        <p:spPr bwMode="auto">
          <a:xfrm>
            <a:off x="0" y="1"/>
            <a:ext cx="9144000" cy="68580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Example of Global Marketing </a:t>
            </a:r>
            <a:endParaRPr lang="en-US" sz="3200" b="1" dirty="0"/>
          </a:p>
        </p:txBody>
      </p:sp>
      <p:sp>
        <p:nvSpPr>
          <p:cNvPr id="3" name="Content Placeholder 2"/>
          <p:cNvSpPr>
            <a:spLocks noGrp="1"/>
          </p:cNvSpPr>
          <p:nvPr>
            <p:ph idx="1"/>
          </p:nvPr>
        </p:nvSpPr>
        <p:spPr>
          <a:xfrm>
            <a:off x="457200" y="1285860"/>
            <a:ext cx="8229600" cy="2000265"/>
          </a:xfrm>
        </p:spPr>
        <p:txBody>
          <a:bodyPr>
            <a:normAutofit lnSpcReduction="10000"/>
          </a:bodyPr>
          <a:lstStyle/>
          <a:p>
            <a:pPr algn="just">
              <a:buNone/>
            </a:pPr>
            <a:r>
              <a:rPr lang="en-US" sz="2400" dirty="0" smtClean="0">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Nike</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Nike has grown to become one of the most recognized brands on the planet through a combination of global marketing tactics, and strategic international sponsorships and partnerships that appeal to audiences around the world. </a:t>
            </a:r>
          </a:p>
          <a:p>
            <a:endParaRPr lang="en-US" dirty="0"/>
          </a:p>
        </p:txBody>
      </p:sp>
      <p:sp>
        <p:nvSpPr>
          <p:cNvPr id="29698" name="AutoShape 2"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9700" name="AutoShape 4"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9702" name="AutoShape 6"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9704" name="AutoShape 8"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9706" name="AutoShape 10"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9708" name="Picture 12" descr="Nike Marketing Strategy: 5 Nike Advertising Secrets Revealed - Unlimited  Graphic Design Service"/>
          <p:cNvPicPr>
            <a:picLocks noChangeAspect="1" noChangeArrowheads="1"/>
          </p:cNvPicPr>
          <p:nvPr/>
        </p:nvPicPr>
        <p:blipFill>
          <a:blip r:embed="rId2"/>
          <a:srcRect/>
          <a:stretch>
            <a:fillRect/>
          </a:stretch>
        </p:blipFill>
        <p:spPr bwMode="auto">
          <a:xfrm>
            <a:off x="857224" y="3214686"/>
            <a:ext cx="7786742" cy="3643314"/>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5"/>
            <a:ext cx="8643998" cy="2357454"/>
          </a:xfrm>
        </p:spPr>
        <p:txBody>
          <a:bodyPr>
            <a:normAutofit fontScale="85000" lnSpcReduction="20000"/>
          </a:bodyPr>
          <a:lstStyle/>
          <a:p>
            <a:pPr algn="ctr">
              <a:buNone/>
            </a:pPr>
            <a:r>
              <a:rPr lang="en-US" sz="3800" b="1" dirty="0" smtClean="0">
                <a:solidFill>
                  <a:srgbClr val="FF0000"/>
                </a:solidFill>
                <a:latin typeface="Times New Roman" pitchFamily="18" charset="0"/>
                <a:cs typeface="Times New Roman" pitchFamily="18" charset="0"/>
              </a:rPr>
              <a:t>Domino’s</a:t>
            </a:r>
          </a:p>
          <a:p>
            <a:pPr algn="ctr">
              <a:buNone/>
            </a:pPr>
            <a:endParaRPr lang="en-US" sz="3600" b="1" dirty="0" smtClean="0">
              <a:solidFill>
                <a:srgbClr val="FF0000"/>
              </a:solidFill>
              <a:latin typeface="Times New Roman" pitchFamily="18" charset="0"/>
              <a:cs typeface="Times New Roman" pitchFamily="18" charset="0"/>
            </a:endParaRPr>
          </a:p>
          <a:p>
            <a:pPr algn="just">
              <a:buNone/>
            </a:pPr>
            <a:r>
              <a:rPr lang="en-US" sz="3100" dirty="0" smtClean="0">
                <a:latin typeface="Times New Roman" pitchFamily="18" charset="0"/>
                <a:cs typeface="Times New Roman" pitchFamily="18" charset="0"/>
              </a:rPr>
              <a:t>    Depending on where you live, Domino’s has menu items (including toppings, sauces, bread, and cheeses) that are available for various global markets. For instance, in Asia, Domino’s offers a variety of seafood options for toppings.</a:t>
            </a:r>
          </a:p>
          <a:p>
            <a:pPr>
              <a:buNone/>
            </a:pPr>
            <a:endParaRPr lang="en-US" sz="3100" dirty="0">
              <a:latin typeface="Times New Roman" pitchFamily="18" charset="0"/>
              <a:cs typeface="Times New Roman" pitchFamily="18" charset="0"/>
            </a:endParaRPr>
          </a:p>
        </p:txBody>
      </p:sp>
      <p:pic>
        <p:nvPicPr>
          <p:cNvPr id="31746" name="Picture 2" descr="Domino's Pizza: Street • Ads of the World™ | Part of The Clio Network"/>
          <p:cNvPicPr>
            <a:picLocks noChangeAspect="1" noChangeArrowheads="1"/>
          </p:cNvPicPr>
          <p:nvPr/>
        </p:nvPicPr>
        <p:blipFill>
          <a:blip r:embed="rId2"/>
          <a:srcRect/>
          <a:stretch>
            <a:fillRect/>
          </a:stretch>
        </p:blipFill>
        <p:spPr bwMode="auto">
          <a:xfrm>
            <a:off x="0" y="2786058"/>
            <a:ext cx="9144000" cy="4071942"/>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flipV="1">
            <a:off x="457200" y="1554481"/>
            <a:ext cx="114272" cy="45719"/>
          </a:xfrm>
        </p:spPr>
        <p:txBody>
          <a:bodyPr>
            <a:normAutofit fontScale="25000" lnSpcReduction="20000"/>
          </a:bodyPr>
          <a:lstStyle/>
          <a:p>
            <a:endParaRPr lang="en-US" dirty="0"/>
          </a:p>
        </p:txBody>
      </p:sp>
      <p:sp>
        <p:nvSpPr>
          <p:cNvPr id="30722" name="AutoShape 2" descr="Nike Marketing Strategy - 7 Best Findings from Case Stud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PPT - Global Marketing Management Planning and Organization PowerPoint  Presentation - ID:1094315"/>
          <p:cNvPicPr>
            <a:picLocks noChangeAspect="1" noChangeArrowheads="1"/>
          </p:cNvPicPr>
          <p:nvPr/>
        </p:nvPicPr>
        <p:blipFill>
          <a:blip r:embed="rId2"/>
          <a:srcRect r="1123" b="3906"/>
          <a:stretch>
            <a:fillRect/>
          </a:stretch>
        </p:blipFill>
        <p:spPr bwMode="auto">
          <a:xfrm>
            <a:off x="0" y="-457200"/>
            <a:ext cx="9144000" cy="73152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2772" name="Picture 4" descr="Navigating the Global Market: Critical Challenges"/>
          <p:cNvPicPr>
            <a:picLocks noChangeAspect="1" noChangeArrowheads="1"/>
          </p:cNvPicPr>
          <p:nvPr/>
        </p:nvPicPr>
        <p:blipFill>
          <a:blip r:embed="rId2"/>
          <a:srcRect t="12500"/>
          <a:stretch>
            <a:fillRect/>
          </a:stretch>
        </p:blipFill>
        <p:spPr bwMode="auto">
          <a:xfrm>
            <a:off x="1" y="0"/>
            <a:ext cx="9143999" cy="68580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572164"/>
          </a:xfrm>
        </p:spPr>
        <p:txBody>
          <a:bodyPr>
            <a:normAutofit fontScale="85000" lnSpcReduction="20000"/>
          </a:bodyPr>
          <a:lstStyle/>
          <a:p>
            <a:pPr algn="just">
              <a:buNone/>
            </a:pPr>
            <a:r>
              <a:rPr lang="en-US" b="1" dirty="0" smtClean="0"/>
              <a:t>1</a:t>
            </a:r>
            <a:r>
              <a:rPr lang="en-US" sz="2800" b="1" dirty="0" smtClean="0">
                <a:latin typeface="Times New Roman" pitchFamily="18" charset="0"/>
                <a:cs typeface="Times New Roman" pitchFamily="18" charset="0"/>
              </a:rPr>
              <a:t>. Cultural Differences-</a:t>
            </a:r>
            <a:r>
              <a:rPr lang="en-US" sz="2800" dirty="0" smtClean="0">
                <a:latin typeface="Times New Roman" pitchFamily="18" charset="0"/>
                <a:cs typeface="Times New Roman" pitchFamily="18" charset="0"/>
              </a:rPr>
              <a:t>What resonates with a Western audience may not appeal similarly in India. A classic example is McDonald's, a global fast-food chain, which had to adapt its menu to cater to Indian tastes and cultural preferences, introducing items like the </a:t>
            </a:r>
            <a:r>
              <a:rPr lang="en-US" sz="2800" dirty="0" err="1" smtClean="0">
                <a:latin typeface="Times New Roman" pitchFamily="18" charset="0"/>
                <a:cs typeface="Times New Roman" pitchFamily="18" charset="0"/>
              </a:rPr>
              <a:t>Aloo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Tikki</a:t>
            </a:r>
            <a:r>
              <a:rPr lang="en-US" sz="2800" dirty="0" smtClean="0">
                <a:latin typeface="Times New Roman" pitchFamily="18" charset="0"/>
                <a:cs typeface="Times New Roman" pitchFamily="18" charset="0"/>
              </a:rPr>
              <a:t> burger to resonate with vegetarian preferences.</a:t>
            </a:r>
          </a:p>
          <a:p>
            <a:pPr algn="just">
              <a:buNone/>
            </a:pPr>
            <a:r>
              <a:rPr lang="en-US" sz="2800" b="1" dirty="0" smtClean="0">
                <a:latin typeface="Times New Roman" pitchFamily="18" charset="0"/>
                <a:cs typeface="Times New Roman" pitchFamily="18" charset="0"/>
              </a:rPr>
              <a:t>2. Legal and Regulatory Compliance-</a:t>
            </a:r>
            <a:r>
              <a:rPr lang="en-US" sz="2800" dirty="0" smtClean="0">
                <a:latin typeface="Times New Roman" pitchFamily="18" charset="0"/>
                <a:cs typeface="Times New Roman" pitchFamily="18" charset="0"/>
              </a:rPr>
              <a:t>When companies expand into new markets, they encounter diverse legal and regulatory environments. Each country boasts its own set of rules, regulations and standards. </a:t>
            </a:r>
          </a:p>
          <a:p>
            <a:pPr algn="just">
              <a:buNone/>
            </a:pPr>
            <a:r>
              <a:rPr lang="en-US" sz="2800" b="1" dirty="0" smtClean="0">
                <a:latin typeface="Times New Roman" pitchFamily="18" charset="0"/>
                <a:cs typeface="Times New Roman" pitchFamily="18" charset="0"/>
              </a:rPr>
              <a:t>3. Economic -</a:t>
            </a:r>
            <a:r>
              <a:rPr lang="en-US" sz="2800" dirty="0" smtClean="0">
                <a:latin typeface="Times New Roman" pitchFamily="18" charset="0"/>
                <a:cs typeface="Times New Roman" pitchFamily="18" charset="0"/>
              </a:rPr>
              <a:t>Economic uncertainty can profoundly influence market entry decisions and profitability. </a:t>
            </a:r>
          </a:p>
          <a:p>
            <a:pPr algn="just">
              <a:buNone/>
            </a:pPr>
            <a:r>
              <a:rPr lang="en-US" sz="2800" b="1" dirty="0" smtClean="0">
                <a:latin typeface="Times New Roman" pitchFamily="18" charset="0"/>
                <a:cs typeface="Times New Roman" pitchFamily="18" charset="0"/>
              </a:rPr>
              <a:t>4. Supply Chain Complexities-</a:t>
            </a:r>
            <a:r>
              <a:rPr lang="en-US" sz="2800" dirty="0" smtClean="0">
                <a:latin typeface="Times New Roman" pitchFamily="18" charset="0"/>
                <a:cs typeface="Times New Roman" pitchFamily="18" charset="0"/>
              </a:rPr>
              <a:t>Managing a global supply chain mandates strategic planning and coordination. Different regions come with their own sets of tariffs, customs duties and regulations, potentially affecting product pricing and availability. </a:t>
            </a:r>
          </a:p>
          <a:p>
            <a:pPr>
              <a:buNone/>
            </a:pPr>
            <a:endParaRPr lang="en-US" dirty="0" smtClean="0"/>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928646"/>
            <a:ext cx="8229600" cy="5929354"/>
          </a:xfrm>
        </p:spPr>
        <p:txBody>
          <a:bodyPr>
            <a:normAutofit/>
          </a:bodyPr>
          <a:lstStyle/>
          <a:p>
            <a:pPr algn="just">
              <a:buNone/>
            </a:pPr>
            <a:r>
              <a:rPr lang="en-US" sz="2600" b="1" dirty="0" smtClean="0">
                <a:latin typeface="Times New Roman" pitchFamily="18" charset="0"/>
                <a:cs typeface="Times New Roman" pitchFamily="18" charset="0"/>
              </a:rPr>
              <a:t>5</a:t>
            </a:r>
            <a:r>
              <a:rPr lang="en-US" sz="2400" b="1" dirty="0" smtClean="0">
                <a:latin typeface="Times New Roman" pitchFamily="18" charset="0"/>
                <a:cs typeface="Times New Roman" pitchFamily="18" charset="0"/>
              </a:rPr>
              <a:t>. Political Risks-</a:t>
            </a:r>
            <a:r>
              <a:rPr lang="en-US" sz="2400" dirty="0" smtClean="0">
                <a:latin typeface="Times New Roman" pitchFamily="18" charset="0"/>
                <a:cs typeface="Times New Roman" pitchFamily="18" charset="0"/>
              </a:rPr>
              <a:t>A change in political leadership, governmental policies, or international relations can impact trade tariffs, regulations and business operations.</a:t>
            </a:r>
          </a:p>
          <a:p>
            <a:pPr algn="just">
              <a:buNone/>
            </a:pPr>
            <a:r>
              <a:rPr lang="en-US" sz="2400" b="1" dirty="0" smtClean="0">
                <a:latin typeface="Times New Roman" pitchFamily="18" charset="0"/>
                <a:cs typeface="Times New Roman" pitchFamily="18" charset="0"/>
              </a:rPr>
              <a:t>6. Language Barriers-</a:t>
            </a:r>
            <a:r>
              <a:rPr lang="en-US" sz="2400" dirty="0" smtClean="0">
                <a:latin typeface="Times New Roman" pitchFamily="18" charset="0"/>
                <a:cs typeface="Times New Roman" pitchFamily="18" charset="0"/>
              </a:rPr>
              <a:t>While fundamental to effective communication, language can become a significant barrier when resonating with local audiences. </a:t>
            </a:r>
          </a:p>
          <a:p>
            <a:pPr algn="just">
              <a:buNone/>
            </a:pPr>
            <a:r>
              <a:rPr lang="en-US" sz="2400" b="1" dirty="0" smtClean="0">
                <a:latin typeface="Times New Roman" pitchFamily="18" charset="0"/>
                <a:cs typeface="Times New Roman" pitchFamily="18" charset="0"/>
              </a:rPr>
              <a:t>7. Understanding Pricing Strategy-</a:t>
            </a:r>
            <a:r>
              <a:rPr lang="en-US" sz="2400" dirty="0" smtClean="0">
                <a:latin typeface="Times New Roman" pitchFamily="18" charset="0"/>
                <a:cs typeface="Times New Roman" pitchFamily="18" charset="0"/>
              </a:rPr>
              <a:t>Pricing isn't merely about converting currencies. It's about understanding local economic conditions, competitive landscapes and consumer expectations</a:t>
            </a:r>
          </a:p>
          <a:p>
            <a:pPr algn="just">
              <a:buNone/>
            </a:pPr>
            <a:r>
              <a:rPr lang="en-US" sz="2400" b="1" dirty="0" smtClean="0">
                <a:latin typeface="Times New Roman" pitchFamily="18" charset="0"/>
                <a:cs typeface="Times New Roman" pitchFamily="18" charset="0"/>
              </a:rPr>
              <a:t>8. Human Resource Management-</a:t>
            </a:r>
            <a:r>
              <a:rPr lang="en-US" sz="2400" dirty="0" smtClean="0">
                <a:latin typeface="Times New Roman" pitchFamily="18" charset="0"/>
                <a:cs typeface="Times New Roman" pitchFamily="18" charset="0"/>
              </a:rPr>
              <a:t>The intricacies of managing a global team are manifold. Differences in </a:t>
            </a:r>
            <a:r>
              <a:rPr lang="en-US" sz="2400" dirty="0" err="1" smtClean="0">
                <a:latin typeface="Times New Roman" pitchFamily="18" charset="0"/>
                <a:cs typeface="Times New Roman" pitchFamily="18" charset="0"/>
              </a:rPr>
              <a:t>labour</a:t>
            </a:r>
            <a:r>
              <a:rPr lang="en-US" sz="2400" dirty="0" smtClean="0">
                <a:latin typeface="Times New Roman" pitchFamily="18" charset="0"/>
                <a:cs typeface="Times New Roman" pitchFamily="18" charset="0"/>
              </a:rPr>
              <a:t> laws, cultural work ethics and expectations pose challenges for hiring, training and retention.</a:t>
            </a:r>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12 Ways to Say “Thank You” With Examples | Grammarly"/>
          <p:cNvPicPr>
            <a:picLocks noChangeAspect="1" noChangeArrowheads="1"/>
          </p:cNvPicPr>
          <p:nvPr/>
        </p:nvPicPr>
        <p:blipFill>
          <a:blip r:embed="rId2"/>
          <a:srcRect/>
          <a:stretch>
            <a:fillRect/>
          </a:stretch>
        </p:blipFill>
        <p:spPr bwMode="auto">
          <a:xfrm>
            <a:off x="1" y="0"/>
            <a:ext cx="9144000" cy="68580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TotalTime>
  <Words>606</Words>
  <Application>Microsoft Office PowerPoint</Application>
  <PresentationFormat>On-screen Show (4:3)</PresentationFormat>
  <Paragraphs>60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UNIT -1 IMPORTANCE AND SCOPE OF MARKETING  </vt:lpstr>
      <vt:lpstr>CONCEPTS OF MARKETING</vt:lpstr>
      <vt:lpstr>Slide 3</vt:lpstr>
      <vt:lpstr>Slide 4</vt:lpstr>
      <vt:lpstr>Slide 5</vt:lpstr>
      <vt:lpstr>Marketing &amp; Customer Value</vt:lpstr>
      <vt:lpstr>Industrial Marketing</vt:lpstr>
      <vt:lpstr>Slide 8</vt:lpstr>
      <vt:lpstr>Services Marketing</vt:lpstr>
      <vt:lpstr>Slide 10</vt:lpstr>
      <vt:lpstr>Slide 11</vt:lpstr>
      <vt:lpstr>Slide 12</vt:lpstr>
      <vt:lpstr>Slide 13</vt:lpstr>
      <vt:lpstr>Global Marketing </vt:lpstr>
      <vt:lpstr>Example of Global Marketing </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UNIT -1</dc:title>
  <dc:creator>hp</dc:creator>
  <cp:lastModifiedBy>ANU COMMERCE</cp:lastModifiedBy>
  <cp:revision>34</cp:revision>
  <dcterms:created xsi:type="dcterms:W3CDTF">2024-07-14T15:33:20Z</dcterms:created>
  <dcterms:modified xsi:type="dcterms:W3CDTF">2026-04-20T05:42:00Z</dcterms:modified>
</cp:coreProperties>
</file>